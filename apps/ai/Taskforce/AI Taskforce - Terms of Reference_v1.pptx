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Yip" userId="132cb5a7-44dd-43c5-b5d7-c23f82a0e472" providerId="ADAL" clId="{3453DF7E-416B-4C76-A11C-6F868F182EB1}"/>
    <pc:docChg chg="modSld">
      <pc:chgData name="Oscar Yip" userId="132cb5a7-44dd-43c5-b5d7-c23f82a0e472" providerId="ADAL" clId="{3453DF7E-416B-4C76-A11C-6F868F182EB1}" dt="2025-07-03T00:23:39.713" v="23" actId="207"/>
      <pc:docMkLst>
        <pc:docMk/>
      </pc:docMkLst>
      <pc:sldChg chg="modSp mod">
        <pc:chgData name="Oscar Yip" userId="132cb5a7-44dd-43c5-b5d7-c23f82a0e472" providerId="ADAL" clId="{3453DF7E-416B-4C76-A11C-6F868F182EB1}" dt="2025-07-03T00:23:39.713" v="23" actId="207"/>
        <pc:sldMkLst>
          <pc:docMk/>
          <pc:sldMk cId="2881377500" sldId="259"/>
        </pc:sldMkLst>
        <pc:spChg chg="mod">
          <ac:chgData name="Oscar Yip" userId="132cb5a7-44dd-43c5-b5d7-c23f82a0e472" providerId="ADAL" clId="{3453DF7E-416B-4C76-A11C-6F868F182EB1}" dt="2025-07-03T00:23:39.713" v="23" actId="207"/>
          <ac:spMkLst>
            <pc:docMk/>
            <pc:sldMk cId="2881377500" sldId="259"/>
            <ac:spMk id="3" creationId="{557BEAC1-31D4-540C-DCF0-AA97019ED7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6423-914F-7A96-348F-E8874CE4B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C5F96-6938-F92E-A7C3-ED46E7056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F7612-2906-E4E8-31BB-049A7DBC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0E379-1334-287B-F6A4-44D55EA0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C5DFF-DBFF-4A0C-EAB4-51A4AAB22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0187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12E5-7DC4-DD02-F9C4-38125C1B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930CF-23A4-7676-E79E-2946EDC54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8B6C9-8AA9-7893-F75D-C13D58EFA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2384-7310-C911-6C79-1E2B1ED4C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A8C3E-E916-48AA-0F2F-843E77B0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4540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F4D5-3019-8DD3-C36E-6013B7AE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BA978-5226-5FF4-DB96-108A1738B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7BD6B-9FAB-40E6-2AF1-073CE250B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1E6E7-F1E5-5E55-E4B0-AF9273BA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F11BD-9947-2D4E-04B8-1DF12304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6117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9FED4-9FF0-ED6F-4CD9-621EFA46D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551BC-8EF9-710F-0DF3-921ADA2FD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89A96-C351-2D10-4763-AB32764AB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0015F-BD25-AA7E-DD9B-29297D2E3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ED639-FB9F-01CD-D771-6E3C8E0A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AFBEE-DDDA-30A6-7D63-DFD8DBB3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9020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933F3-8CA6-B1A0-F5BE-CBF1BE422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636FA-C006-C33B-A9E8-4F6A0C9A3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B820C-B32F-7A52-C469-6942B99F9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86B7B-9E91-251D-F524-6002BD45E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3C7C3-9F8F-A50B-F769-42ECD64A9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CA8EE-3339-F283-CBFE-D988E2E4A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C38B1-3A39-0FD4-C90C-4E8737E9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8501E-6130-1E87-D4CD-622E5FF3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7731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78C6-12E9-834E-EC61-263C723D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559CB-F133-7E81-49E3-5DAB4A6C5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24A1C-D453-A546-474A-E04CF858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CB23D-712A-E47A-AF6B-78E59258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11705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A6814-8F77-AE1E-6FEC-1137E1DB3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23CCC4-815B-02CA-3EC1-707E29F0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D55ED-8E1D-1FD4-2D20-791FFE4E8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94982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4E58-302F-35C0-6C06-FDEE45FB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9EB83-07EE-970D-FFC5-5D0AFA686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62E79-9C96-1BF5-BEF2-3B9AE73AB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9AF30-3363-FC37-5BCA-DDC64CCA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7B3B7-5098-DA49-6FBF-25F6DAAF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2447A-7F7F-DD4B-7607-14890D09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3453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12A6-0678-9F57-6E24-B55FC4904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E391B-8B6D-2D48-639E-7D681D76B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7ECA3-C0B7-890E-4134-A221D2F2B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11291-67A0-63D9-AF4A-25B8CE3C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35802-894C-3383-4A5C-47D4A6F71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4A9F8-4262-512E-CD0B-CFA78E3C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0221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BFCA4-83B1-0098-3793-85819A0CE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45D65-27BE-EAE6-3B6C-1B815D0BE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F61B7-38D2-4D73-6837-E2CE86FB8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9D081-C45B-8C7F-030C-C194FFED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0E851-9810-221F-C442-59D2B97C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2071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A71AA-EDF9-6BD5-4FDC-DFC3E5616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6BCD9-2934-A813-4CD3-F54A8DC91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41D31-6A0E-138A-FF95-633F1E78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E0670-B50A-65CD-1BEB-4EBDEE44D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C10B9-0BCB-70D2-0B21-978B5B55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3469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B7CBD8-0853-E6A8-76F9-88647D45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7FF23-8448-BE0E-67BA-C1AC695D3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5C1AA-FFC2-25A7-453B-0AA9C6E8C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1D6AB-D9D9-4C66-97D5-221C2F276B99}" type="datetimeFigureOut">
              <a:rPr lang="en-NZ" smtClean="0"/>
              <a:t>3/07/2025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BA00E-82CB-C62C-D3CF-5B594BAD3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0CB6B-FC71-C057-D862-BD2500130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4546B-D3B3-4A6C-9E4F-D9DFA61585A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2095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045AF-D100-1C90-7091-3DDC99D2C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3372" y="2332855"/>
            <a:ext cx="9144000" cy="2387600"/>
          </a:xfrm>
        </p:spPr>
        <p:txBody>
          <a:bodyPr>
            <a:normAutofit/>
          </a:bodyPr>
          <a:lstStyle/>
          <a:p>
            <a:r>
              <a:rPr lang="en-NZ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AI TASKFORCE – TERMS OF REFERENCE</a:t>
            </a:r>
            <a:br>
              <a:rPr lang="en-NZ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endParaRPr lang="en-NZ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9D0CB-AE5F-700D-C12E-CD1958251EEA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EEDD6-856A-E855-4577-D2AB37959F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7376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4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669E0-1DE8-D3B1-D0F6-89FBEA91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b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b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1.	Purpose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AC8D2-F989-DA5E-5413-887075785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NZ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indent="0">
              <a:buNone/>
            </a:pPr>
            <a:endParaRPr lang="en-NZ" sz="20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indent="0">
              <a:buNone/>
            </a:pPr>
            <a:r>
              <a:rPr lang="en-NZ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To develop a comprehensive and risk-aware AI Policy for BWD.  The policy will provide strategic guidance for the safe, effective, and optimised use of artificial intelligence in our business.</a:t>
            </a:r>
            <a:endParaRPr lang="en-NZ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0E834E-54D4-121E-F53A-C09D056A27C1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D1082D-BA1B-2412-F8BD-40BA1A3675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7376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8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B945-131A-36AB-2CEB-765E840A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510" y="1096169"/>
            <a:ext cx="10581290" cy="862998"/>
          </a:xfrm>
        </p:spPr>
        <p:txBody>
          <a:bodyPr>
            <a:normAutofit/>
          </a:bodyPr>
          <a:lstStyle/>
          <a:p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2.	Objectives – 1 of 2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84F08-EA23-9D1B-60D9-AE42451FB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NZ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AI Taskforce will develop a draft policy addressing the following key objectives:</a:t>
            </a:r>
          </a:p>
          <a:p>
            <a:pPr marL="0" lvl="0" indent="0">
              <a:buNone/>
              <a:tabLst>
                <a:tab pos="457200" algn="l"/>
              </a:tabLst>
            </a:pPr>
            <a:endParaRPr lang="en-NZ" sz="1800" dirty="0"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lvl="0" indent="0">
              <a:buNone/>
              <a:tabLst>
                <a:tab pos="4572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A.	Risk Management and Information Security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best practice governance and risk management measures for AI use, with particular focus on: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Preventing unintentional disclosure of commercially sensitive or proprietary data through AI prompts or platform interactions.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Ensuring compliance with regional and international data privacy and cybersecurity standards.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lvl="0" indent="0">
              <a:buNone/>
              <a:tabLst>
                <a:tab pos="4572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B.	Evaluation of AI Platforms * </a:t>
            </a:r>
            <a:r>
              <a:rPr lang="en-NZ" sz="1800" b="1" i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Oscar to evaluate the following platforms</a:t>
            </a:r>
            <a:endParaRPr lang="en-NZ" sz="1800" i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Assess the suitability of leading AI platforms (e.g., OpenAI ChatGPT, Microsoft CoPilot, Google Gemini) for BWD’s operations.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Assess functionality, data handling, enterprise control, integration with existing systems, licensing models, and security posture.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0548B0-1EDD-DBED-922B-D3FB3B790DD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B50A9-0AF5-617F-A72F-830E5145CE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7376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4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2439-0F41-B3F9-1E5E-95BBC51F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266"/>
            <a:ext cx="10515600" cy="1325563"/>
          </a:xfrm>
        </p:spPr>
        <p:txBody>
          <a:bodyPr>
            <a:normAutofit/>
          </a:bodyPr>
          <a:lstStyle/>
          <a:p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2.	Objectives – 2 of 2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BEAC1-31D4-540C-DCF0-AA97019ED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  <a:tabLst>
                <a:tab pos="457200" algn="l"/>
              </a:tabLst>
            </a:pPr>
            <a:r>
              <a:rPr lang="en-NZ" sz="18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C.	</a:t>
            </a: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Deployment of AI Across Business Functions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high-impact AI use cases tailored to core functional areas – or example: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HR</a:t>
            </a: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recruitment screening, onboarding automation, performance analysis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Legal</a:t>
            </a: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contract summarisation, risk flagging, legal research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IT</a:t>
            </a: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helpdesk automation, threat detection, code generation </a:t>
            </a:r>
            <a:r>
              <a:rPr lang="en-NZ" sz="18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* </a:t>
            </a:r>
            <a:r>
              <a:rPr lang="en-NZ" sz="1800" i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to evaluate use case</a:t>
            </a:r>
            <a:endParaRPr lang="en-NZ" sz="180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Project Management</a:t>
            </a: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schedule forecasting, risk tracking, task management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lvl="2" indent="-228600"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Sales &amp; Commercial</a:t>
            </a: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bid generation, CRM augmentation, market research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lvl="0" indent="0">
              <a:buNone/>
              <a:tabLst>
                <a:tab pos="457200" algn="l"/>
              </a:tabLst>
            </a:pPr>
            <a:r>
              <a:rPr lang="en-NZ" sz="18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D.	</a:t>
            </a:r>
            <a:r>
              <a:rPr lang="en-NZ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Policy Development and Implementation Roadmap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Draft a practical, scalable AI Policy including governance protocols, usage guidelines, platform approvals, and staff responsibilities.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a proposed implementation and training roadmap for the BWD team.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N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8E888-7E96-3A56-DB49-A95F39B4FC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7376"/>
            <a:ext cx="1089424" cy="9549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1EF35C-E1E9-3B91-56FA-E4C1FB305927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5DD48-E721-60FE-FAAF-CE306266A3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52" y="137375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7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0745-D890-5C90-EBF4-72839D81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7108"/>
            <a:ext cx="10515600" cy="813341"/>
          </a:xfrm>
        </p:spPr>
        <p:txBody>
          <a:bodyPr/>
          <a:lstStyle/>
          <a:p>
            <a:r>
              <a:rPr lang="en-NZ" sz="2400" b="1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3</a:t>
            </a:r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	Scope of Work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65AA0-1FDD-675A-EE5D-D83EEAE1B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1845"/>
            <a:ext cx="10515600" cy="3665117"/>
          </a:xfrm>
        </p:spPr>
        <p:txBody>
          <a:bodyPr/>
          <a:lstStyle/>
          <a:p>
            <a:pPr marL="0" indent="0">
              <a:buNone/>
            </a:pPr>
            <a:r>
              <a:rPr lang="en-NZ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Taskforce will undertake the following: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Consider BWD’s  AI readiness and potential.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Risk assessment of existing and future AI interactions.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Platform trials or pilot testing, if required.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Consider and discuss cybersecurity, legal, and compliance aspects – drawing on wider BW Group policy in this regard.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Drafting of final deliverables for BWD management review.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indent="0">
              <a:buNone/>
            </a:pPr>
            <a:endParaRPr lang="en-NZ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59C7E0-C9C0-4EEC-6545-C1B9C721948A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5A6D8-6568-0139-E2D2-2EF824C1E0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52" y="137375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4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C7D1-46B5-C282-5E12-707431EF6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8206"/>
            <a:ext cx="10515600" cy="854664"/>
          </a:xfrm>
        </p:spPr>
        <p:txBody>
          <a:bodyPr/>
          <a:lstStyle/>
          <a:p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4.	Governance and Reporting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AD8F-02C7-117C-4D63-3FA440697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1943"/>
            <a:ext cx="10515600" cy="3695020"/>
          </a:xfrm>
        </p:spPr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b="1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Chair</a:t>
            </a:r>
            <a:r>
              <a:rPr lang="en-NZ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Peter Missingham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b="1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Members</a:t>
            </a:r>
            <a:r>
              <a:rPr lang="en-NZ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Monita Singh, Oscar Yip, Sam Brunnen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Meetings to occur weekly or as otherwise necessary.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Progress updates to be reported monthly to the CEO.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NZ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425AC-1A37-CF4F-812E-2EC31DCD71E4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04E309-C539-7CFA-980B-1D59CA1247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52" y="137375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6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7FE0-A849-0463-1A43-12FCDB615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6577"/>
            <a:ext cx="10515600" cy="1325563"/>
          </a:xfrm>
        </p:spPr>
        <p:txBody>
          <a:bodyPr>
            <a:normAutofit/>
          </a:bodyPr>
          <a:lstStyle/>
          <a:p>
            <a:r>
              <a:rPr lang="en-NZ" sz="2400" b="1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5. </a:t>
            </a:r>
            <a:r>
              <a:rPr lang="en-NZ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Deliverables and Deadline</a:t>
            </a:r>
            <a:endParaRPr lang="en-NZ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7AD0-FB3B-7B2D-8CC3-4F785FB6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39589"/>
            <a:ext cx="10515600" cy="2937374"/>
          </a:xfrm>
        </p:spPr>
        <p:txBody>
          <a:bodyPr/>
          <a:lstStyle/>
          <a:p>
            <a:pPr marL="0" indent="0">
              <a:buNone/>
            </a:pPr>
            <a:r>
              <a:rPr lang="en-NZ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By the </a:t>
            </a:r>
            <a:r>
              <a:rPr lang="en-NZ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31 August 2025</a:t>
            </a:r>
            <a:r>
              <a:rPr lang="en-NZ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the Taskforce will submit to the CEO a final report covering the following: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Draft AI Policy Document – focused on data security/privacy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Preliminary AI Platform Assessment and Recommendation Report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Business Function Proposals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Training Plan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NZ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Implementation Roadmap</a:t>
            </a:r>
            <a:endParaRPr lang="en-NZ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NZ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A56CCA-F751-B08D-891D-CA171E1771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29710"/>
          </a:xfrm>
          <a:prstGeom prst="rect">
            <a:avLst/>
          </a:prstGeom>
          <a:solidFill>
            <a:srgbClr val="1C3BA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endParaRPr lang="en-NZ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78898B-DC0A-243B-51ED-BA8A51798F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152" y="137375"/>
            <a:ext cx="1089424" cy="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86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1168e9d-8339-4497-a4a0-a9213624f2cd}" enabled="0" method="" siteId="{11168e9d-8339-4497-a4a0-a9213624f2c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469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Symbol</vt:lpstr>
      <vt:lpstr>Wingdings</vt:lpstr>
      <vt:lpstr>Office Theme</vt:lpstr>
      <vt:lpstr>AI TASKFORCE – TERMS OF REFERENCE </vt:lpstr>
      <vt:lpstr>   1. Purpose</vt:lpstr>
      <vt:lpstr>2. Objectives – 1 of 2</vt:lpstr>
      <vt:lpstr>2. Objectives – 2 of 2</vt:lpstr>
      <vt:lpstr>3. Scope of Work</vt:lpstr>
      <vt:lpstr>4. Governance and Reporting</vt:lpstr>
      <vt:lpstr>5. Deliverables and Deadline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Missingham</dc:creator>
  <cp:lastModifiedBy>Oscar Yip</cp:lastModifiedBy>
  <cp:revision>2</cp:revision>
  <dcterms:created xsi:type="dcterms:W3CDTF">2025-06-26T02:23:17Z</dcterms:created>
  <dcterms:modified xsi:type="dcterms:W3CDTF">2025-07-03T00:23:42Z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1009791863</vt:i4>
  </property>
  <property fmtid="{D5CDD505-2E9C-101B-9397-08002B2CF9AE}" pid="3" name="_NewReviewCycle">
    <vt:lpwstr/>
  </property>
  <property fmtid="{D5CDD505-2E9C-101B-9397-08002B2CF9AE}" pid="4" name="_EmailSubject">
    <vt:lpwstr>BW Digital AI Taskforce</vt:lpwstr>
  </property>
  <property fmtid="{D5CDD505-2E9C-101B-9397-08002B2CF9AE}" pid="5" name="_AuthorEmail">
    <vt:lpwstr>petemis@bw-digital.com</vt:lpwstr>
  </property>
  <property fmtid="{D5CDD505-2E9C-101B-9397-08002B2CF9AE}" pid="6" name="_AuthorEmailDisplayName">
    <vt:lpwstr>Peter Missingham</vt:lpwstr>
  </property>
</Properties>
</file>